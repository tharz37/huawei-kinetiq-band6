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5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97" d="100"/>
          <a:sy n="97" d="100"/>
        </p:scale>
        <p:origin x="42" y="1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3300-F7C1-77D3-CE4F-17E9B92E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8A73A-8540-EF55-5032-8CC40158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8AADD-787C-DED2-CBC5-38FECFFB4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8BA7-1D3D-3F68-71DB-5D1B73642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7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49C1-4CDC-F30E-1CC1-F1365EC1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41BB6-C799-3EBE-942A-68D074EBB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53D0-26B0-42FE-93D7-6F33B96F5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6A03-DD9A-CCA3-EEE5-6CE130744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5FF3-00EA-45CC-B7E1-84D5D783299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1846-6848-4C3C-A053-A69834132C1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22C4-472E-44A9-A657-67EDBE37D843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92B11-9E42-47E7-A44B-2AD99F380F8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798E-D96E-4627-9584-A0046B543FEA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BD22-7724-45F4-BDB5-8F99527BB392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9EA4-3F90-4BA9-A7BC-6EA928BE2513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480-A190-4E2C-B605-D3841A021D52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D555-71D3-4570-A68C-E33065D8866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8717-7530-43FA-B168-D3E0E4D4B37A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96AF4-4731-4765-B4DF-43497718C08B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A8838-B03B-4394-A81F-E39DD145F32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CFA0-CC8E-1BA5-784B-FAE41EE3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166AC-0AB5-B888-0318-C3CFACC546EF}"/>
              </a:ext>
            </a:extLst>
          </p:cNvPr>
          <p:cNvSpPr txBox="1"/>
          <p:nvPr/>
        </p:nvSpPr>
        <p:spPr>
          <a:xfrm>
            <a:off x="1822249" y="75183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563E1-7D96-F5A2-6ACA-C37C233872DC}"/>
              </a:ext>
            </a:extLst>
          </p:cNvPr>
          <p:cNvSpPr txBox="1"/>
          <p:nvPr/>
        </p:nvSpPr>
        <p:spPr>
          <a:xfrm>
            <a:off x="0" y="6412331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0ABD3-75FA-9C16-C33C-3D90B75C71BE}"/>
              </a:ext>
            </a:extLst>
          </p:cNvPr>
          <p:cNvSpPr/>
          <p:nvPr/>
        </p:nvSpPr>
        <p:spPr>
          <a:xfrm>
            <a:off x="571500" y="4642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FF886-5C7F-145E-7210-AACC6FB78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93102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87D997-2295-17D9-FC47-20F1B4E89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11" y="1980411"/>
            <a:ext cx="12192000" cy="1569659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Book Antiqua" panose="0204060205030503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B.TECH MINOR PROJECT</a:t>
            </a:r>
            <a:br>
              <a:rPr lang="en-US" sz="4800" dirty="0">
                <a:latin typeface="Book Antiqua" panose="0204060205030503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</a:br>
            <a:r>
              <a:rPr lang="en-US" sz="3600" b="1" dirty="0">
                <a:solidFill>
                  <a:srgbClr val="FF0000"/>
                </a:solidFill>
                <a:latin typeface="Book Antiqua" panose="0204060205030503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FINAL REVIEW</a:t>
            </a:r>
            <a:br>
              <a:rPr lang="en-US" sz="3600" b="1" dirty="0">
                <a:solidFill>
                  <a:srgbClr val="FF0000"/>
                </a:solidFill>
                <a:latin typeface="Book Antiqua" panose="0204060205030503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</a:br>
            <a:r>
              <a:rPr lang="en-US" sz="2200" b="1" dirty="0">
                <a:solidFill>
                  <a:srgbClr val="FF0000"/>
                </a:solidFill>
                <a:latin typeface="Book Antiqua" panose="02040602050305030304" pitchFamily="18" charset="0"/>
                <a:ea typeface="Quattrocento Sans"/>
                <a:cs typeface="Times New Roman" panose="02020603050405020304" pitchFamily="18" charset="0"/>
                <a:sym typeface="Quattrocento Sans"/>
              </a:rPr>
              <a:t>15/10/2026</a:t>
            </a:r>
            <a:endParaRPr lang="en-IN" sz="4500" b="1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4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371600"/>
            <a:ext cx="9144000" cy="1463040"/>
          </a:xfrm>
        </p:spPr>
        <p:txBody>
          <a:bodyPr/>
          <a:lstStyle/>
          <a:p>
            <a:pPr algn="ctr"/>
            <a:r>
              <a:rPr sz="7200" b="1" i="0" dirty="0">
                <a:solidFill>
                  <a:srgbClr val="FF0000"/>
                </a:solidFill>
                <a:latin typeface="Times New Roman"/>
              </a:rPr>
              <a:t>KINETIQ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2926080"/>
            <a:ext cx="9106539" cy="1321455"/>
          </a:xfrm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200" b="1" i="0" dirty="0">
                <a:solidFill>
                  <a:srgbClr val="262626"/>
                </a:solidFill>
                <a:latin typeface="Times New Roman"/>
              </a:rPr>
              <a:t>RTOS-Based IoT Healthcare Assistant with Sensor-Grounded Voice AI</a:t>
            </a:r>
          </a:p>
          <a:p>
            <a:pPr algn="ctr">
              <a:spcAft>
                <a:spcPts val="600"/>
              </a:spcAft>
            </a:pPr>
            <a:r>
              <a:rPr sz="1800" b="0" i="1" dirty="0">
                <a:solidFill>
                  <a:srgbClr val="262626"/>
                </a:solidFill>
                <a:latin typeface="Times New Roman"/>
              </a:rPr>
              <a:t>‘Mirror, Mirror’ — the wellness mirror that sees, listens and answers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5F4A9-0B85-9A40-61E4-9E6F10CB350C}"/>
              </a:ext>
            </a:extLst>
          </p:cNvPr>
          <p:cNvSpPr txBox="1"/>
          <p:nvPr/>
        </p:nvSpPr>
        <p:spPr>
          <a:xfrm>
            <a:off x="1817329" y="75463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E22-9F8A-524C-51B1-A6A255F65594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FAAF73-BB7C-8119-16B7-3028B1F54B48}"/>
              </a:ext>
            </a:extLst>
          </p:cNvPr>
          <p:cNvSpPr/>
          <p:nvPr/>
        </p:nvSpPr>
        <p:spPr>
          <a:xfrm>
            <a:off x="566580" y="4922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572182-79A2-0162-7F24-5C1225004F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04" y="93382"/>
            <a:ext cx="956075" cy="1090077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126F2344-E01F-EC68-0019-A76B93E23258}"/>
              </a:ext>
            </a:extLst>
          </p:cNvPr>
          <p:cNvSpPr txBox="1"/>
          <p:nvPr/>
        </p:nvSpPr>
        <p:spPr>
          <a:xfrm>
            <a:off x="1081253" y="4490662"/>
            <a:ext cx="5380383" cy="169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Sidharth Sajith</a:t>
            </a:r>
          </a:p>
          <a:p>
            <a:pPr algn="just"/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Tharun Oommen Jacob</a:t>
            </a:r>
          </a:p>
          <a:p>
            <a:pPr algn="just"/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Shahazad</a:t>
            </a:r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 Abdulla</a:t>
            </a:r>
            <a:endParaRPr lang="en-US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E839D3D0-80FC-A44B-11EC-BE63821A96AD}"/>
              </a:ext>
            </a:extLst>
          </p:cNvPr>
          <p:cNvSpPr txBox="1"/>
          <p:nvPr/>
        </p:nvSpPr>
        <p:spPr>
          <a:xfrm>
            <a:off x="7425093" y="4490662"/>
            <a:ext cx="42367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SUPERVISOR: </a:t>
            </a:r>
          </a:p>
          <a:p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	Er. </a:t>
            </a:r>
            <a:r>
              <a:rPr lang="en-US" sz="2000" b="1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Jittu</a:t>
            </a:r>
            <a:r>
              <a:rPr lang="en-US" sz="20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 George Eapen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Assistant Professor</a:t>
            </a:r>
          </a:p>
          <a:p>
            <a:r>
              <a:rPr lang="en-US" sz="2000" dirty="0">
                <a:latin typeface="Book Antiqua" panose="02040602050305030304" pitchFamily="18" charset="0"/>
                <a:cs typeface="Times New Roman" panose="02020603050405020304" pitchFamily="18" charset="0"/>
              </a:rPr>
              <a:t>	Department of Electronics 	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704088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Book Antiqua" panose="02040602050305030304" pitchFamily="18" charset="0"/>
              </a:rPr>
              <a:t>Limited access to live data:</a:t>
            </a:r>
            <a:r>
              <a:rPr lang="en-IN" sz="2000" dirty="0">
                <a:latin typeface="Book Antiqua" panose="02040602050305030304" pitchFamily="18" charset="0"/>
              </a:rPr>
              <a:t> Health and activity information is often difficult to integrate into custom applications.</a:t>
            </a:r>
          </a:p>
          <a:p>
            <a:pPr lvl="0"/>
            <a:r>
              <a:rPr lang="en-IN" sz="2000" b="1" dirty="0">
                <a:latin typeface="Book Antiqua" panose="02040602050305030304" pitchFamily="18" charset="0"/>
              </a:rPr>
              <a:t>Generic AI responses:</a:t>
            </a:r>
            <a:r>
              <a:rPr lang="en-IN" sz="2000" dirty="0">
                <a:latin typeface="Book Antiqua" panose="02040602050305030304" pitchFamily="18" charset="0"/>
              </a:rPr>
              <a:t> Voice assistants may provide advice without considering the user's current sensor data.</a:t>
            </a:r>
          </a:p>
          <a:p>
            <a:pPr lvl="0"/>
            <a:r>
              <a:rPr lang="en-IN" sz="2000" b="1" dirty="0">
                <a:latin typeface="Book Antiqua" panose="02040602050305030304" pitchFamily="18" charset="0"/>
              </a:rPr>
              <a:t>Poor posture awareness:</a:t>
            </a:r>
            <a:r>
              <a:rPr lang="en-IN" sz="2000" dirty="0">
                <a:latin typeface="Book Antiqua" panose="02040602050305030304" pitchFamily="18" charset="0"/>
              </a:rPr>
              <a:t> Prolonged sitting and incorrect posture may go unnoticed during study or work.</a:t>
            </a:r>
          </a:p>
          <a:p>
            <a:pPr lvl="0"/>
            <a:r>
              <a:rPr lang="en-IN" sz="2000" b="1" dirty="0">
                <a:latin typeface="Book Antiqua" panose="02040602050305030304" pitchFamily="18" charset="0"/>
              </a:rPr>
              <a:t>Lack of integration:</a:t>
            </a:r>
            <a:r>
              <a:rPr lang="en-IN" sz="2000" dirty="0">
                <a:latin typeface="Book Antiqua" panose="02040602050305030304" pitchFamily="18" charset="0"/>
              </a:rPr>
              <a:t> A practical solution must combine embedded sensing, real-time processing, IoT communication and voice interaction.</a:t>
            </a:r>
          </a:p>
          <a:p>
            <a:r>
              <a:rPr lang="en-IN" sz="2000" b="1" dirty="0">
                <a:latin typeface="Book Antiqua" panose="02040602050305030304" pitchFamily="18" charset="0"/>
              </a:rPr>
              <a:t>Our approach:</a:t>
            </a:r>
            <a:r>
              <a:rPr lang="en-IN" sz="2000" dirty="0">
                <a:latin typeface="Book Antiqua" panose="02040602050305030304" pitchFamily="18" charset="0"/>
              </a:rPr>
              <a:t> Develop a wellness assistant that uses sensor data to provide contextual feedback and simple posture reminders.</a:t>
            </a:r>
          </a:p>
          <a:p>
            <a:r>
              <a:rPr lang="en-IN" sz="2000" i="1" dirty="0">
                <a:latin typeface="Book Antiqua" panose="02040602050305030304" pitchFamily="18" charset="0"/>
              </a:rPr>
              <a:t>Scope: Wellness assistance only, not medical diagnosis.</a:t>
            </a:r>
            <a:endParaRPr lang="en-IN" sz="2000" dirty="0">
              <a:latin typeface="Book Antiqua" panose="02040602050305030304" pitchFamily="18" charset="0"/>
            </a:endParaRP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4023360" cy="3142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47091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62626"/>
                </a:solidFill>
                <a:latin typeface="Times New Roman"/>
              </a:rPr>
              <a:t>System at a glance — sensing node to mirror. Full diagram in METHODOLOGY.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FA108-A137-94FB-CB01-7BA0C93BE603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OBJECTIVES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11612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Book Antiqua" panose="02040602050305030304" pitchFamily="18" charset="0"/>
              </a:rPr>
              <a:t>1. Real-Time Embedded System</a:t>
            </a:r>
            <a:br>
              <a:rPr lang="en-IN" sz="2000" dirty="0">
                <a:latin typeface="Book Antiqua" panose="02040602050305030304" pitchFamily="18" charset="0"/>
              </a:rPr>
            </a:br>
            <a:r>
              <a:rPr lang="en-IN" sz="2000" dirty="0">
                <a:latin typeface="Book Antiqua" panose="02040602050305030304" pitchFamily="18" charset="0"/>
              </a:rPr>
              <a:t>Implement </a:t>
            </a:r>
            <a:r>
              <a:rPr lang="en-IN" sz="2000" dirty="0" err="1">
                <a:latin typeface="Book Antiqua" panose="02040602050305030304" pitchFamily="18" charset="0"/>
              </a:rPr>
              <a:t>FreeRTOS</a:t>
            </a:r>
            <a:r>
              <a:rPr lang="en-IN" sz="2000" dirty="0">
                <a:latin typeface="Book Antiqua" panose="02040602050305030304" pitchFamily="18" charset="0"/>
              </a:rPr>
              <a:t> tasks and queues for organised sensor processing on the ESP32.</a:t>
            </a:r>
          </a:p>
          <a:p>
            <a:r>
              <a:rPr lang="en-IN" sz="2000" b="1" dirty="0">
                <a:latin typeface="Book Antiqua" panose="02040602050305030304" pitchFamily="18" charset="0"/>
              </a:rPr>
              <a:t>2. Sensor Integration</a:t>
            </a:r>
            <a:br>
              <a:rPr lang="en-IN" sz="2000" dirty="0">
                <a:latin typeface="Book Antiqua" panose="02040602050305030304" pitchFamily="18" charset="0"/>
              </a:rPr>
            </a:br>
            <a:r>
              <a:rPr lang="en-IN" sz="2000" dirty="0">
                <a:latin typeface="Book Antiqua" panose="02040602050305030304" pitchFamily="18" charset="0"/>
              </a:rPr>
              <a:t>Combine motion, distance and environmental sensors to observe activity and surrounding conditions.</a:t>
            </a:r>
          </a:p>
          <a:p>
            <a:r>
              <a:rPr lang="en-IN" sz="2000" b="1" dirty="0">
                <a:latin typeface="Book Antiqua" panose="02040602050305030304" pitchFamily="18" charset="0"/>
              </a:rPr>
              <a:t>3. IoT Data Communication</a:t>
            </a:r>
            <a:br>
              <a:rPr lang="en-IN" sz="2000" dirty="0">
                <a:latin typeface="Book Antiqua" panose="02040602050305030304" pitchFamily="18" charset="0"/>
              </a:rPr>
            </a:br>
            <a:r>
              <a:rPr lang="en-IN" sz="2000" dirty="0">
                <a:latin typeface="Book Antiqua" panose="02040602050305030304" pitchFamily="18" charset="0"/>
              </a:rPr>
              <a:t>Transfer structured telemetry to a laptop dashboard for live monitoring and data logging.</a:t>
            </a:r>
          </a:p>
          <a:p>
            <a:r>
              <a:rPr lang="en-IN" sz="2000" b="1" dirty="0">
                <a:latin typeface="Book Antiqua" panose="02040602050305030304" pitchFamily="18" charset="0"/>
              </a:rPr>
              <a:t>4. Sensor-Grounded Voice Assistant</a:t>
            </a:r>
            <a:br>
              <a:rPr lang="en-IN" sz="2000" dirty="0">
                <a:latin typeface="Book Antiqua" panose="02040602050305030304" pitchFamily="18" charset="0"/>
              </a:rPr>
            </a:br>
            <a:r>
              <a:rPr lang="en-IN" sz="2000" dirty="0">
                <a:latin typeface="Book Antiqua" panose="02040602050305030304" pitchFamily="18" charset="0"/>
              </a:rPr>
              <a:t>Integrate speech recognition, an AI language model and speech synthesis, with a check that responses are supported by available sensor data.</a:t>
            </a:r>
          </a:p>
          <a:p>
            <a:r>
              <a:rPr lang="en-IN" sz="2000" b="1" dirty="0">
                <a:latin typeface="Book Antiqua" panose="02040602050305030304" pitchFamily="18" charset="0"/>
              </a:rPr>
              <a:t>5. User Feedback</a:t>
            </a:r>
            <a:br>
              <a:rPr lang="en-IN" sz="2000" dirty="0">
                <a:latin typeface="Book Antiqua" panose="02040602050305030304" pitchFamily="18" charset="0"/>
              </a:rPr>
            </a:br>
            <a:r>
              <a:rPr lang="en-IN" sz="2000" dirty="0">
                <a:latin typeface="Book Antiqua" panose="02040602050305030304" pitchFamily="18" charset="0"/>
              </a:rPr>
              <a:t>Provide posture reminders and contextual wellness information through voice and visual feedback.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DE6F9-BB06-9D08-33BE-A91F6BBEFC28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METHODOLOGY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SENSE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MPU6050·DHT22·sonar·cam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4327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FF0000"/>
                </a:solidFill>
                <a:latin typeface="Times New Roman"/>
              </a:rPr>
              <a:t>PROCESS</a:t>
            </a:r>
          </a:p>
          <a:p>
            <a:pPr algn="ctr">
              <a:spcAft>
                <a:spcPts val="600"/>
              </a:spcAft>
            </a:pPr>
            <a:r>
              <a:rPr sz="1100" b="0" i="0" dirty="0" err="1">
                <a:solidFill>
                  <a:srgbClr val="262626"/>
                </a:solidFill>
                <a:latin typeface="Times New Roman"/>
              </a:rPr>
              <a:t>queues·validate</a:t>
            </a:r>
            <a:endParaRPr sz="1100" b="0" i="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37175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FF0000"/>
                </a:solidFill>
                <a:latin typeface="Times New Roman"/>
              </a:rPr>
              <a:t>INFER</a:t>
            </a:r>
          </a:p>
          <a:p>
            <a:pPr algn="ctr">
              <a:spcAft>
                <a:spcPts val="600"/>
              </a:spcAft>
            </a:pPr>
            <a:r>
              <a:rPr sz="1100" b="0" i="0" dirty="0" err="1">
                <a:solidFill>
                  <a:srgbClr val="262626"/>
                </a:solidFill>
                <a:latin typeface="Times New Roman"/>
              </a:rPr>
              <a:t>posture·rules</a:t>
            </a:r>
            <a:endParaRPr sz="1100" b="0" i="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87183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4344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COMMUNICATE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serial·WiFi·CSV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7192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74352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ASSIST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voice·buzzer</a:t>
            </a:r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27632"/>
            <a:ext cx="6035040" cy="47134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1627632"/>
            <a:ext cx="53035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 Antiqua" panose="02040602050305030304" pitchFamily="18" charset="0"/>
              </a:rPr>
              <a:t>1. SENSE</a:t>
            </a:r>
            <a:br>
              <a:rPr lang="en-IN" sz="1400" dirty="0">
                <a:latin typeface="Book Antiqua" panose="02040602050305030304" pitchFamily="18" charset="0"/>
              </a:rPr>
            </a:br>
            <a:r>
              <a:rPr lang="en-IN" sz="1400" dirty="0">
                <a:latin typeface="Book Antiqua" panose="02040602050305030304" pitchFamily="18" charset="0"/>
              </a:rPr>
              <a:t>Collect motion and environmental data using sensors connected to the ESP32. Webcam-based posture analysis is an additional laptop-side component.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2. PROCESS</a:t>
            </a:r>
            <a:br>
              <a:rPr lang="en-IN" sz="1400" dirty="0">
                <a:latin typeface="Book Antiqua" panose="02040602050305030304" pitchFamily="18" charset="0"/>
              </a:rPr>
            </a:br>
            <a:r>
              <a:rPr lang="en-IN" sz="1400" dirty="0">
                <a:latin typeface="Book Antiqua" panose="02040602050305030304" pitchFamily="18" charset="0"/>
              </a:rPr>
              <a:t>Use </a:t>
            </a:r>
            <a:r>
              <a:rPr lang="en-IN" sz="1400" dirty="0" err="1">
                <a:latin typeface="Book Antiqua" panose="02040602050305030304" pitchFamily="18" charset="0"/>
              </a:rPr>
              <a:t>FreeRTOS</a:t>
            </a:r>
            <a:r>
              <a:rPr lang="en-IN" sz="1400" dirty="0">
                <a:latin typeface="Book Antiqua" panose="02040602050305030304" pitchFamily="18" charset="0"/>
              </a:rPr>
              <a:t> tasks and queues to organise sensor processing and prepare structured telemetry.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3. INFER</a:t>
            </a:r>
            <a:br>
              <a:rPr lang="en-IN" sz="1400" dirty="0">
                <a:latin typeface="Book Antiqua" panose="02040602050305030304" pitchFamily="18" charset="0"/>
              </a:rPr>
            </a:br>
            <a:r>
              <a:rPr lang="en-IN" sz="1400" dirty="0">
                <a:latin typeface="Book Antiqua" panose="02040602050305030304" pitchFamily="18" charset="0"/>
              </a:rPr>
              <a:t>Apply activity and posture rules to interpret sensor readings and identify conditions that may require attention.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4. COMMUNICATE</a:t>
            </a:r>
            <a:br>
              <a:rPr lang="en-IN" sz="1400" dirty="0">
                <a:latin typeface="Book Antiqua" panose="02040602050305030304" pitchFamily="18" charset="0"/>
              </a:rPr>
            </a:br>
            <a:r>
              <a:rPr lang="en-IN" sz="1400" dirty="0">
                <a:latin typeface="Book Antiqua" panose="02040602050305030304" pitchFamily="18" charset="0"/>
              </a:rPr>
              <a:t>Send telemetry to the laptop dashboard for monitoring and CSV logging.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5. ASSIST</a:t>
            </a:r>
            <a:br>
              <a:rPr lang="en-IN" sz="1400" dirty="0">
                <a:latin typeface="Book Antiqua" panose="02040602050305030304" pitchFamily="18" charset="0"/>
              </a:rPr>
            </a:br>
            <a:r>
              <a:rPr lang="en-IN" sz="1400" dirty="0">
                <a:latin typeface="Book Antiqua" panose="02040602050305030304" pitchFamily="18" charset="0"/>
              </a:rPr>
              <a:t>Use speech recognition and an AI language model to generate a response, verify its grounding in the available telemetry, and provide feedback through speech or a buzzer.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Processing split:</a:t>
            </a:r>
            <a:r>
              <a:rPr lang="en-IN" sz="1400" dirty="0">
                <a:latin typeface="Book Antiqua" panose="02040602050305030304" pitchFamily="18" charset="0"/>
              </a:rPr>
              <a:t> The ESP32 handles embedded sensing and real-time tasks, while the laptop handles the dashboard and computationally intensive voice AI.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46A0A3-D6FD-E375-5154-4B516D276884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DEMO — WHAT WORKS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480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dashboard --source stdin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dashboard: received=75 dropped=0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assistant "how am I doing?"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[grounding] PASS — cites live HR + posture</a:t>
            </a:r>
          </a:p>
          <a:p>
            <a:pPr>
              <a:spcAft>
                <a:spcPts val="400"/>
              </a:spcAft>
            </a:pPr>
            <a:r>
              <a:rPr sz="1400">
                <a:latin typeface="Courier New"/>
              </a:rPr>
              <a:t>[llm] reply via ollama (gemma2:2b) — grounding PASS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ble bridge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ble: packets_routed=30 schema_rejected=0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voice pipeline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voice: stt→llm→tts pipeline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143000"/>
            <a:ext cx="576072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Book Antiqua" panose="02040602050305030304" pitchFamily="18" charset="0"/>
              </a:rPr>
              <a:t>1. Live Dashboard</a:t>
            </a:r>
            <a:br>
              <a:rPr lang="en-IN" sz="1600" dirty="0">
                <a:latin typeface="Book Antiqua" panose="02040602050305030304" pitchFamily="18" charset="0"/>
              </a:rPr>
            </a:br>
            <a:r>
              <a:rPr lang="en-IN" sz="1600" dirty="0">
                <a:latin typeface="Book Antiqua" panose="02040602050305030304" pitchFamily="18" charset="0"/>
              </a:rPr>
              <a:t>Displays incoming telemetry and records session data in CSV format.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2. AI Assistant</a:t>
            </a:r>
            <a:br>
              <a:rPr lang="en-IN" sz="1600" dirty="0">
                <a:latin typeface="Book Antiqua" panose="02040602050305030304" pitchFamily="18" charset="0"/>
              </a:rPr>
            </a:br>
            <a:r>
              <a:rPr lang="en-IN" sz="1600" dirty="0">
                <a:latin typeface="Book Antiqua" panose="02040602050305030304" pitchFamily="18" charset="0"/>
              </a:rPr>
              <a:t>Answers user queries using available telemetry as context.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3. Response Verification</a:t>
            </a:r>
            <a:br>
              <a:rPr lang="en-IN" sz="1600" dirty="0">
                <a:latin typeface="Book Antiqua" panose="02040602050305030304" pitchFamily="18" charset="0"/>
              </a:rPr>
            </a:br>
            <a:r>
              <a:rPr lang="en-IN" sz="1600" dirty="0">
                <a:latin typeface="Book Antiqua" panose="02040602050305030304" pitchFamily="18" charset="0"/>
              </a:rPr>
              <a:t>Checks whether an answer is supported by the available data. Unsupported responses are rejected.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4. Voice Pipeline</a:t>
            </a:r>
            <a:br>
              <a:rPr lang="en-IN" sz="1600" dirty="0">
                <a:latin typeface="Book Antiqua" panose="02040602050305030304" pitchFamily="18" charset="0"/>
              </a:rPr>
            </a:br>
            <a:r>
              <a:rPr lang="en-IN" sz="1600" dirty="0">
                <a:latin typeface="Book Antiqua" panose="02040602050305030304" pitchFamily="18" charset="0"/>
              </a:rPr>
              <a:t>Integrates speech-to-text, AI response generation and text-to-speech.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5. RTOS Simulation</a:t>
            </a:r>
            <a:br>
              <a:rPr lang="en-IN" sz="1600" dirty="0">
                <a:latin typeface="Book Antiqua" panose="02040602050305030304" pitchFamily="18" charset="0"/>
              </a:rPr>
            </a:br>
            <a:r>
              <a:rPr lang="en-IN" sz="1600" dirty="0">
                <a:latin typeface="Book Antiqua" panose="02040602050305030304" pitchFamily="18" charset="0"/>
              </a:rPr>
              <a:t>Demonstrates </a:t>
            </a:r>
            <a:r>
              <a:rPr lang="en-IN" sz="1600" dirty="0" err="1">
                <a:latin typeface="Book Antiqua" panose="02040602050305030304" pitchFamily="18" charset="0"/>
              </a:rPr>
              <a:t>FreeRTOS</a:t>
            </a:r>
            <a:r>
              <a:rPr lang="en-IN" sz="1600" dirty="0">
                <a:latin typeface="Book Antiqua" panose="02040602050305030304" pitchFamily="18" charset="0"/>
              </a:rPr>
              <a:t>-based firmware and structured telemetry output in a simulated ESP32 environment.</a:t>
            </a:r>
          </a:p>
          <a:p>
            <a:r>
              <a:rPr lang="en-IN" sz="1600" b="1" dirty="0">
                <a:latin typeface="Book Antiqua" panose="02040602050305030304" pitchFamily="18" charset="0"/>
              </a:rPr>
              <a:t>Demonstration flow:</a:t>
            </a:r>
            <a:r>
              <a:rPr lang="en-IN" sz="1600" dirty="0">
                <a:latin typeface="Book Antiqua" panose="02040602050305030304" pitchFamily="18" charset="0"/>
              </a:rPr>
              <a:t> Telemetry → Dashboard → User Query → Grounding Check → Response</a:t>
            </a:r>
          </a:p>
          <a:p>
            <a:r>
              <a:rPr lang="en-IN" sz="1600" i="1" dirty="0">
                <a:latin typeface="Book Antiqua" panose="02040602050305030304" pitchFamily="18" charset="0"/>
              </a:rPr>
              <a:t>Note: Laptop-side features and firmware simulation are demonstrated separately; full physical sensor-to-assistant integration remains under development.</a:t>
            </a:r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A1FC3-6DF8-44F0-4726-8E54B2F24DE2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 dirty="0">
                <a:solidFill>
                  <a:srgbClr val="FF0000"/>
                </a:solidFill>
                <a:latin typeface="Times New Roman"/>
              </a:rPr>
              <a:t>RESULTS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pic>
        <p:nvPicPr>
          <p:cNvPr id="6" name="Picture 5" descr="results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6949440" cy="4169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188720"/>
            <a:ext cx="438912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 Antiqua" panose="02040602050305030304" pitchFamily="18" charset="0"/>
              </a:rPr>
              <a:t>Telemetry Simulation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Processed 30 simulated samples at approximately 1 sample per second.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Heart-rate values varied from 63 to 155 BPM across simulated activity stages.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Motion intensity increased from 0.04 to 0.92.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Data Validation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Implemented strict validation of an eight-field telemetry format.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Invalid packets are rejected with logged reasons.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Communication and Logging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Dashboard tracks received and dropped frames.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The mock BLE client tracks routed and rejected packets.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Voice Assistant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Measured speech-recognition time: 0.48 seconds per synthetic audio clip.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Grounding verification rejects unsupported responses before they are spoken.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Result:</a:t>
            </a:r>
            <a:r>
              <a:rPr lang="en-IN" sz="1400" dirty="0">
                <a:latin typeface="Book Antiqua" panose="02040602050305030304" pitchFamily="18" charset="0"/>
              </a:rPr>
              <a:t> The laptop-side software pipeline and simulated telemetry workflow have been demonstrated. Physical sensor validation is a remaining development step.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C4A4A-694F-6136-AEF1-745504F6BD46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HARDWARE &amp; BOM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67401"/>
              </p:ext>
            </p:extLst>
          </p:nvPr>
        </p:nvGraphicFramePr>
        <p:xfrm>
          <a:off x="289560" y="702201"/>
          <a:ext cx="1161288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 dirty="0">
                          <a:solidFill>
                            <a:srgbClr val="FF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QTY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₹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ESP32 DevKit V1 WROOM-32 (headers pre-soldered)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Micro-USB data cables (drawer check first)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0–300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830-pt breadboard + M-M jumper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MPU6050 + HC-SR04 + IR combo (headers soldered)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DHT22 module (built-in pullup)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F-F jumper 20-pack + tact buttons + caps + buzzer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TIER-A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≈1,950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Design-complete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555361"/>
            <a:ext cx="11612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 Antiqua" panose="02040602050305030304" pitchFamily="18" charset="0"/>
              </a:rPr>
              <a:t>Software and development tools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 err="1">
                <a:latin typeface="Book Antiqua" panose="02040602050305030304" pitchFamily="18" charset="0"/>
              </a:rPr>
              <a:t>FreeRTOS</a:t>
            </a:r>
            <a:r>
              <a:rPr lang="en-IN" sz="1400" dirty="0">
                <a:latin typeface="Book Antiqua" panose="02040602050305030304" pitchFamily="18" charset="0"/>
              </a:rPr>
              <a:t> on ESP32</a:t>
            </a:r>
          </a:p>
          <a:p>
            <a:pPr lvl="0"/>
            <a:r>
              <a:rPr lang="en-IN" sz="1400" dirty="0" err="1">
                <a:latin typeface="Book Antiqua" panose="02040602050305030304" pitchFamily="18" charset="0"/>
              </a:rPr>
              <a:t>Wokwi</a:t>
            </a:r>
            <a:r>
              <a:rPr lang="en-IN" sz="1400" dirty="0">
                <a:latin typeface="Book Antiqua" panose="02040602050305030304" pitchFamily="18" charset="0"/>
              </a:rPr>
              <a:t> for firmware simulation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Python for the dashboard and data logging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Speech recognition, local language model and speech synthesis for voice interaction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Current status:</a:t>
            </a:r>
            <a:r>
              <a:rPr lang="en-IN" sz="1400" dirty="0">
                <a:latin typeface="Book Antiqua" panose="02040602050305030304" pitchFamily="18" charset="0"/>
              </a:rPr>
              <a:t> Hardware design and pin mapping are prepared. Components have been ordered; physical hardware bring-up and sensor validation are pending.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Safety:</a:t>
            </a:r>
            <a:r>
              <a:rPr lang="en-IN" sz="1400" dirty="0">
                <a:latin typeface="Book Antiqua" panose="02040602050305030304" pitchFamily="18" charset="0"/>
              </a:rPr>
              <a:t> Sensor values are wellness estimates, not clinical measurements.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FE61D-E855-B344-AC0D-E625F8E6E38D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ROADMAP &amp; THANK YOU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694944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DAY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GATE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12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Idea confirmed · order placed · Wokwi blink tonight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✓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13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Firmware hardware-agnostic · bridge · backup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✓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14–15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Board arrives · serial JSON to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I2C sensors live · figures + wiring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17–18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WiFi layer (soft-AP fallback ready)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19–20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Audio cut/go · serial demo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21–22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Report · rehearse ·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28560" y="1012954"/>
            <a:ext cx="43891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 Antiqua" panose="02040602050305030304" pitchFamily="18" charset="0"/>
              </a:rPr>
              <a:t>Completed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Laptop dashboard and CSV logging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Mock telemetry processing and validation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Sensor-grounded AI assistant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Speech recognition and response pipeline</a:t>
            </a:r>
          </a:p>
          <a:p>
            <a:pPr lvl="0"/>
            <a:r>
              <a:rPr lang="en-IN" sz="1400" dirty="0" err="1">
                <a:latin typeface="Book Antiqua" panose="02040602050305030304" pitchFamily="18" charset="0"/>
              </a:rPr>
              <a:t>FreeRTOS</a:t>
            </a:r>
            <a:r>
              <a:rPr lang="en-IN" sz="1400" dirty="0">
                <a:latin typeface="Book Antiqua" panose="02040602050305030304" pitchFamily="18" charset="0"/>
              </a:rPr>
              <a:t> firmware simulation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In Progress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Physical ESP32 setup and sensor integration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Serial telemetry connection to the dashboard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End-to-end system testing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Next Steps</a:t>
            </a:r>
            <a:endParaRPr lang="en-IN" sz="1400" dirty="0">
              <a:latin typeface="Book Antiqua" panose="02040602050305030304" pitchFamily="18" charset="0"/>
            </a:endParaRP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Verify real sensor readings and communication reliability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Integrate the physical sensing node with the laptop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Test posture alerts and voice responses using live data</a:t>
            </a:r>
          </a:p>
          <a:p>
            <a:pPr lvl="0"/>
            <a:r>
              <a:rPr lang="en-IN" sz="1400" dirty="0">
                <a:latin typeface="Book Antiqua" panose="02040602050305030304" pitchFamily="18" charset="0"/>
              </a:rPr>
              <a:t>Complete system validation, documentation and final demonstration</a:t>
            </a:r>
          </a:p>
          <a:p>
            <a:r>
              <a:rPr lang="en-IN" sz="1400" b="1" dirty="0">
                <a:latin typeface="Book Antiqua" panose="02040602050305030304" pitchFamily="18" charset="0"/>
              </a:rPr>
              <a:t>Expected outcome:</a:t>
            </a:r>
            <a:r>
              <a:rPr lang="en-IN" sz="1400" dirty="0">
                <a:latin typeface="Book Antiqua" panose="02040602050305030304" pitchFamily="18" charset="0"/>
              </a:rPr>
              <a:t> An integrated prototype demonstrating embedded sensing, real-time processing, IoT data transfer and sensor-grounded voice interaction.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E6B6A-8E73-0A4D-2C0C-F62082B16903}"/>
              </a:ext>
            </a:extLst>
          </p:cNvPr>
          <p:cNvSpPr txBox="1"/>
          <p:nvPr/>
        </p:nvSpPr>
        <p:spPr>
          <a:xfrm>
            <a:off x="0" y="6396335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4E8C-CB82-8EED-8B5E-1C6FE73D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3C239BF-CAD6-519B-F809-84AD8C9DFD2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2C93-C84A-2506-9F91-BEFF0A98F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BAD83-C3D6-8644-EBBA-2593D627991B}"/>
              </a:ext>
            </a:extLst>
          </p:cNvPr>
          <p:cNvSpPr txBox="1"/>
          <p:nvPr/>
        </p:nvSpPr>
        <p:spPr>
          <a:xfrm>
            <a:off x="0" y="2629091"/>
            <a:ext cx="12192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4020A3-1CCA-E234-FAD5-4E85B29794E8}"/>
              </a:ext>
            </a:extLst>
          </p:cNvPr>
          <p:cNvSpPr txBox="1">
            <a:spLocks/>
          </p:cNvSpPr>
          <p:nvPr/>
        </p:nvSpPr>
        <p:spPr>
          <a:xfrm>
            <a:off x="0" y="1293192"/>
            <a:ext cx="12192000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1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4931</TotalTime>
  <Words>1201</Words>
  <Application>Microsoft Office PowerPoint</Application>
  <PresentationFormat>Widescreen</PresentationFormat>
  <Paragraphs>193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Book Antiqua</vt:lpstr>
      <vt:lpstr>Calibri</vt:lpstr>
      <vt:lpstr>Calibri Light</vt:lpstr>
      <vt:lpstr>Courier New</vt:lpstr>
      <vt:lpstr>Gill Sans MT</vt:lpstr>
      <vt:lpstr>Swis721 BlkCn BT</vt:lpstr>
      <vt:lpstr>Times New Roman</vt:lpstr>
      <vt:lpstr>Office Theme</vt:lpstr>
      <vt:lpstr>B.TECH MINOR PROJECT FINAL REVIEW 15/10/2026</vt:lpstr>
      <vt:lpstr>KINETIQ</vt:lpstr>
      <vt:lpstr>PROBLEM STATEMENT</vt:lpstr>
      <vt:lpstr>OBJECTIVES</vt:lpstr>
      <vt:lpstr>METHODOLOGY</vt:lpstr>
      <vt:lpstr>DEMO — WHAT WORKS</vt:lpstr>
      <vt:lpstr>RESULTS</vt:lpstr>
      <vt:lpstr>HARDWARE &amp; BOM</vt:lpstr>
      <vt:lpstr>ROADMAP &amp; 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Abraham</dc:creator>
  <cp:lastModifiedBy>Tharun Oommen Jacob</cp:lastModifiedBy>
  <cp:revision>54</cp:revision>
  <cp:lastPrinted>2024-11-07T04:07:42Z</cp:lastPrinted>
  <dcterms:modified xsi:type="dcterms:W3CDTF">2026-10-15T03:27:14Z</dcterms:modified>
</cp:coreProperties>
</file>